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617720"/>
            <a:ext cx="12191695" cy="109728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TypeScript &amp; “Akal-akalan” Static Typing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BFD3F0"/>
                </a:solidFill>
                <a:latin typeface="Calibri"/>
              </a:rPr>
              <a:t>Kenapa TypeScript dianggap cuma “ilusi” type safety
di atas runtime JavaScript yang dynamic?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64707E"/>
                </a:solidFill>
                <a:latin typeface="Calibri"/>
              </a:rPr>
              <a:t>🧪 Riset oleh Velma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TypeScript Itu Apa?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07008"/>
            <a:ext cx="1828800" cy="50292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64707E"/>
                </a:solidFill>
                <a:latin typeface="Calibri"/>
              </a:rPr>
              <a:t>Sebelum ngomongin “akal-akalan”, pahami dulu fondasinya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900" b="1">
                <a:solidFill>
                  <a:srgbClr val="2E5EAA"/>
                </a:solidFill>
              </a:rPr>
              <a:t>• </a:t>
            </a:r>
            <a:r>
              <a:rPr sz="1900" b="1">
                <a:solidFill>
                  <a:srgbClr val="1F2937"/>
                </a:solidFill>
                <a:latin typeface="Calibri"/>
              </a:rPr>
              <a:t>Superset JavaScript</a:t>
            </a:r>
            <a:r>
              <a:rPr sz="1900" b="0">
                <a:solidFill>
                  <a:srgbClr val="1F2937"/>
                </a:solidFill>
                <a:latin typeface="Calibri"/>
              </a:rPr>
              <a:t> — semua JS valid = TS valid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900" b="1">
                <a:solidFill>
                  <a:srgbClr val="2E5EAA"/>
                </a:solidFill>
              </a:rPr>
              <a:t>• </a:t>
            </a:r>
            <a:r>
              <a:rPr sz="1900" b="0">
                <a:solidFill>
                  <a:srgbClr val="1F2937"/>
                </a:solidFill>
                <a:latin typeface="Calibri"/>
              </a:rPr>
              <a:t>Menambahkan </a:t>
            </a:r>
            <a:r>
              <a:rPr sz="1900" b="1">
                <a:solidFill>
                  <a:srgbClr val="1F2937"/>
                </a:solidFill>
                <a:latin typeface="Calibri"/>
              </a:rPr>
              <a:t>static type annotations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900" b="1">
                <a:solidFill>
                  <a:srgbClr val="2E5EAA"/>
                </a:solidFill>
              </a:rPr>
              <a:t>• </a:t>
            </a:r>
            <a:r>
              <a:rPr sz="1900" b="0">
                <a:solidFill>
                  <a:srgbClr val="1F2937"/>
                </a:solidFill>
                <a:latin typeface="Calibri"/>
              </a:rPr>
              <a:t>Di-compile (transpile) → JavaScript biasa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900" b="1">
                <a:solidFill>
                  <a:srgbClr val="2E5EAA"/>
                </a:solidFill>
              </a:rPr>
              <a:t>• </a:t>
            </a:r>
            <a:r>
              <a:rPr sz="1900" b="0">
                <a:solidFill>
                  <a:srgbClr val="1F2937"/>
                </a:solidFill>
                <a:latin typeface="Calibri"/>
              </a:rPr>
              <a:t>Dibuat Microsoft, dirancang oleh </a:t>
            </a:r>
            <a:r>
              <a:rPr sz="1900" b="1">
                <a:solidFill>
                  <a:srgbClr val="1F2937"/>
                </a:solidFill>
                <a:latin typeface="Calibri"/>
              </a:rPr>
              <a:t>Anders Hejlsberg</a:t>
            </a:r>
            <a:r>
              <a:rPr sz="1900" b="0">
                <a:solidFill>
                  <a:srgbClr val="1F2937"/>
                </a:solidFill>
                <a:latin typeface="Calibri"/>
              </a:rPr>
              <a:t> (C#, Delphi, Turbo Pascal)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900" b="1">
                <a:solidFill>
                  <a:srgbClr val="2E5EAA"/>
                </a:solidFill>
              </a:rPr>
              <a:t>• </a:t>
            </a:r>
            <a:r>
              <a:rPr sz="1900" b="0">
                <a:solidFill>
                  <a:srgbClr val="1F2937"/>
                </a:solidFill>
                <a:latin typeface="Calibri"/>
              </a:rPr>
              <a:t>Rilis 2012, sekarang </a:t>
            </a:r>
            <a:r>
              <a:rPr sz="1900" b="1">
                <a:solidFill>
                  <a:srgbClr val="1F2937"/>
                </a:solidFill>
                <a:latin typeface="Calibri"/>
              </a:rPr>
              <a:t>dominasi ekosistem JS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029200"/>
            <a:ext cx="10515600" cy="1143000"/>
          </a:xfrm>
          <a:prstGeom prst="roundRect">
            <a:avLst/>
          </a:prstGeom>
          <a:solidFill>
            <a:srgbClr val="E3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2120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**Fakta kunci:** TS types **hanya ada di compile time**. Di runtime, browser/Node.js cuma lihat JavaScript polos. Types-nya **dihapus (erased)** saat kompilasi.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4707E"/>
                </a:solidFill>
                <a:latin typeface="Calibri"/>
              </a:rP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Kenapa Disebut “Akal-akalan”?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07008"/>
            <a:ext cx="1828800" cy="50292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64707E"/>
                </a:solidFill>
                <a:latin typeface="Calibri"/>
              </a:rPr>
              <a:t>Kritik utama dari komunitas purist static typing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137160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14884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“TypeScript cuma ilusi type safety — karena runtime-nya tetap JavaScript yang dynamic.”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1E3A6E"/>
                </a:solidFill>
                <a:latin typeface="Calibri"/>
              </a:rPr>
              <a:t>8 alasan kenapa: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2E5EAA"/>
                </a:solidFill>
              </a:rPr>
              <a:t>• </a:t>
            </a:r>
            <a:r>
              <a:rPr sz="1600" b="0">
                <a:solidFill>
                  <a:srgbClr val="1F2937"/>
                </a:solidFill>
                <a:latin typeface="Calibri"/>
              </a:rPr>
              <a:t>Type erasure — types hilang setelah compile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2E5EAA"/>
                </a:solidFill>
              </a:rPr>
              <a:t>• </a:t>
            </a:r>
            <a:r>
              <a:rPr sz="1600" b="0">
                <a:solidFill>
                  <a:srgbClr val="1F2937"/>
                </a:solidFill>
                <a:latin typeface="Calibri"/>
              </a:rPr>
              <a:t>any — pintu darurat yang menyebar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2E5EAA"/>
                </a:solidFill>
              </a:rPr>
              <a:t>• </a:t>
            </a:r>
            <a:r>
              <a:rPr sz="1600" b="0">
                <a:solidFill>
                  <a:srgbClr val="1F2937"/>
                </a:solidFill>
                <a:latin typeface="Calibri"/>
              </a:rPr>
              <a:t>Type assertion — bisa bohong ke compiler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2E5EAA"/>
                </a:solidFill>
              </a:rPr>
              <a:t>• </a:t>
            </a:r>
            <a:r>
              <a:rPr sz="1600" b="0">
                <a:solidFill>
                  <a:srgbClr val="1F2937"/>
                </a:solidFill>
                <a:latin typeface="Calibri"/>
              </a:rPr>
              <a:t>External data — blind spot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2E5EAA"/>
                </a:solidFill>
              </a:rPr>
              <a:t>• </a:t>
            </a:r>
            <a:r>
              <a:rPr sz="1600" b="0">
                <a:solidFill>
                  <a:srgbClr val="1F2937"/>
                </a:solidFill>
                <a:latin typeface="Calibri"/>
              </a:rPr>
              <a:t>Gradual typing — false safety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2E5EAA"/>
                </a:solidFill>
              </a:rPr>
              <a:t>• </a:t>
            </a:r>
            <a:r>
              <a:rPr sz="1600" b="0">
                <a:solidFill>
                  <a:srgbClr val="1F2937"/>
                </a:solidFill>
                <a:latin typeface="Calibri"/>
              </a:rPr>
              <a:t>Declaration files — bisa ngaco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2E5EAA"/>
                </a:solidFill>
              </a:rPr>
              <a:t>• </a:t>
            </a:r>
            <a:r>
              <a:rPr sz="1600" b="0">
                <a:solidFill>
                  <a:srgbClr val="1F2937"/>
                </a:solidFill>
                <a:latin typeface="Calibri"/>
              </a:rPr>
              <a:t>Runtime behavior JS gak berubah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2E5EAA"/>
                </a:solidFill>
              </a:rPr>
              <a:t>• </a:t>
            </a:r>
            <a:r>
              <a:rPr sz="1600" b="0">
                <a:solidFill>
                  <a:srgbClr val="1F2937"/>
                </a:solidFill>
                <a:latin typeface="Calibri"/>
              </a:rPr>
              <a:t>“Superset” — batasan inheren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4707E"/>
                </a:solidFill>
                <a:latin typeface="Calibri"/>
              </a:rP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#1 Type Erasure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07008"/>
            <a:ext cx="1828800" cy="50292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64707E"/>
                </a:solidFill>
                <a:latin typeface="Calibri"/>
              </a:rPr>
              <a:t>Types hilang total setelah compile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10515600" cy="3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47088"/>
            <a:ext cx="10149840" cy="-182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7DC4FF"/>
                </a:solidFill>
                <a:latin typeface="Consolas"/>
              </a:rPr>
              <a:t>// TypeScript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1D5DB"/>
                </a:solidFill>
                <a:latin typeface="Consolas"/>
              </a:rPr>
              <a:t>function add(a: number, b: number): number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1D5DB"/>
                </a:solidFill>
                <a:latin typeface="Consolas"/>
              </a:rPr>
              <a:t>  return a + b;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1D5DB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1D5DB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7DC4FF"/>
                </a:solidFill>
                <a:latin typeface="Consolas"/>
              </a:rPr>
              <a:t>↓ compile ↓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1D5DB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7DC4FF"/>
                </a:solidFill>
                <a:latin typeface="Consolas"/>
              </a:rPr>
              <a:t>// JavaScript — types hilang!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1D5DB"/>
                </a:solidFill>
                <a:latin typeface="Consolas"/>
              </a:rPr>
              <a:t>function add(a, b)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1D5DB"/>
                </a:solidFill>
                <a:latin typeface="Consolas"/>
              </a:rPr>
              <a:t>  return a + b;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1D5DB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51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**Masalah:** Runtime gak bisa enforce types. Kalo bug lolos compile check → gak ada safety net.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74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64707E"/>
                </a:solidFill>
                <a:latin typeface="Calibri"/>
              </a:rPr>
              <a:t>Bandingkan: Java/C# punya type info di runtime (reflection, runtime checks).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4707E"/>
                </a:solidFill>
                <a:latin typeface="Calibri"/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#2 ‘any’ — Pintu Darurat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07008"/>
            <a:ext cx="1828800" cy="50292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64707E"/>
                </a:solidFill>
                <a:latin typeface="Calibri"/>
              </a:rPr>
              <a:t>Opt-out total dari type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10515600" cy="1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47088"/>
            <a:ext cx="10149840" cy="-182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D1D5DB"/>
                </a:solidFill>
                <a:latin typeface="Consolas"/>
              </a:rPr>
              <a:t>const data: any = fetchSomething();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D1D5DB"/>
                </a:solidFill>
                <a:latin typeface="Consolas"/>
              </a:rPr>
              <a:t>data.foo.bar.baz(); // ✅ No TypeScript error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7DC4FF"/>
                </a:solidFill>
                <a:latin typeface="Consolas"/>
              </a:rPr>
              <a:t>                    // 💥 Runtime crash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566160"/>
            <a:ext cx="10515600" cy="1051560"/>
          </a:xfrm>
          <a:prstGeom prst="roundRect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749039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‘any’ bersifat **infectious** — menyebar ke seluruh codebase karena TS menganggap ‘any’ assignable ke/dari tipe apa pun.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92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64707E"/>
                </a:solidFill>
                <a:latin typeface="Calibri"/>
              </a:rPr>
              <a:t>Satu ‘any’ di satu tempat bisa menurunkan safety di tempat lain.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4707E"/>
                </a:solidFill>
                <a:latin typeface="Calibri"/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#3 Type Assertion Bisa “Bohong”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07008"/>
            <a:ext cx="1828800" cy="50292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64707E"/>
                </a:solidFill>
                <a:latin typeface="Calibri"/>
              </a:rPr>
              <a:t>‘as’ keyword bisa override type checker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10515600" cy="1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47088"/>
            <a:ext cx="10149840" cy="-182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D1D5DB"/>
                </a:solidFill>
                <a:latin typeface="Consolas"/>
              </a:rPr>
              <a:t>const response = await fetch("/api/user");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D1D5DB"/>
                </a:solidFill>
                <a:latin typeface="Consolas"/>
              </a:rPr>
              <a:t>const user = response.json() as User;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7DC4FF"/>
                </a:solidFill>
                <a:latin typeface="Consolas"/>
              </a:rPr>
              <a:t>// TypeScript percaya aja — padahal API bisa return apa aja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03320"/>
            <a:ext cx="10515600" cy="914400"/>
          </a:xfrm>
          <a:prstGeom prst="roundRect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886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**Gak ada runtime validation.** Developer bisa “bohong” ke compiler.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92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64707E"/>
                </a:solidFill>
                <a:latin typeface="Calibri"/>
              </a:rPr>
              <a:t>TS hanya memindahkan kepercayaan dari runtime ke developer — dan kepercayaan itu bisa salah.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4707E"/>
                </a:solidFill>
                <a:latin typeface="Calibri"/>
              </a:rP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#4 External Data = Blind Spot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07008"/>
            <a:ext cx="1828800" cy="50292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64707E"/>
                </a:solidFill>
                <a:latin typeface="Calibri"/>
              </a:rPr>
              <a:t>Data dari luar aplikasi selalu unknown di runtime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2E5EAA"/>
                </a:solidFill>
              </a:rPr>
              <a:t>• </a:t>
            </a:r>
            <a:r>
              <a:rPr sz="1700" b="0">
                <a:solidFill>
                  <a:srgbClr val="1F2937"/>
                </a:solidFill>
                <a:latin typeface="Calibri"/>
              </a:rPr>
              <a:t>API responses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2E5EAA"/>
                </a:solidFill>
              </a:rPr>
              <a:t>• </a:t>
            </a:r>
            <a:r>
              <a:rPr sz="1700" b="0">
                <a:solidFill>
                  <a:srgbClr val="1F2937"/>
                </a:solidFill>
                <a:latin typeface="Calibri"/>
              </a:rPr>
              <a:t>localStorage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2E5EAA"/>
                </a:solidFill>
              </a:rPr>
              <a:t>• </a:t>
            </a:r>
            <a:r>
              <a:rPr sz="1700" b="0">
                <a:solidFill>
                  <a:srgbClr val="1F2937"/>
                </a:solidFill>
                <a:latin typeface="Calibri"/>
              </a:rPr>
              <a:t>Form input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2E5EAA"/>
                </a:solidFill>
              </a:rPr>
              <a:t>• </a:t>
            </a:r>
            <a:r>
              <a:rPr sz="1700" b="0">
                <a:solidFill>
                  <a:srgbClr val="1F2937"/>
                </a:solidFill>
                <a:latin typeface="Calibri"/>
              </a:rPr>
              <a:t>URL params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063240"/>
            <a:ext cx="10515600" cy="1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172968"/>
            <a:ext cx="10149840" cy="-182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1D5DB"/>
                </a:solidFill>
                <a:latin typeface="Consolas"/>
              </a:rPr>
              <a:t>const stored = localStorage.getItem("user");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1D5DB"/>
                </a:solidFill>
                <a:latin typeface="Consolas"/>
              </a:rPr>
              <a:t>const user: User = JSON.parse(stored);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7DC4FF"/>
                </a:solidFill>
                <a:latin typeface="Consolas"/>
              </a:rPr>
              <a:t>// TS oke, tapi stored bisa corrupted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892040"/>
            <a:ext cx="10515600" cy="1051560"/>
          </a:xfrm>
          <a:prstGeom prst="roundRect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074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**Ironi:** Butuh library tambahan (Zod, Yup, io-ts) untuk runtime validation — justru ngebuktiin TS aja gak cukup.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4707E"/>
                </a:solidFill>
                <a:latin typeface="Calibri"/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#5 Gradual Typing = False Safety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07008"/>
            <a:ext cx="1828800" cy="50292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64707E"/>
                </a:solidFill>
                <a:latin typeface="Calibri"/>
              </a:rPr>
              <a:t>TypeScript bukan sound type system — sengaja mengizinkan unsound behavior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10515600" cy="1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47088"/>
            <a:ext cx="10149840" cy="-182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1D5DB"/>
                </a:solidFill>
                <a:latin typeface="Consolas"/>
              </a:rPr>
              <a:t>const nums: number[] = [1, 2, 3];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1D5DB"/>
                </a:solidFill>
                <a:latin typeface="Consolas"/>
              </a:rPr>
              <a:t>const stuff: any[] = nums;   // ✅ OK — structural typing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1D5DB"/>
                </a:solidFill>
                <a:latin typeface="Consolas"/>
              </a:rPr>
              <a:t>stuff.push("haha");          // ✅ No error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1D5DB"/>
                </a:solidFill>
                <a:latin typeface="Consolas"/>
              </a:rPr>
              <a:t>nums[3].toFixed(2);          // 💥 "haha".toFixed is not a function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977639"/>
            <a:ext cx="10515600" cy="914400"/>
          </a:xfrm>
          <a:prstGeom prst="roundRect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160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Di Rust/OCaml, kasus kayak gini **gak mungkin terjadi**.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4707E"/>
                </a:solidFill>
                <a:latin typeface="Calibri"/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#6 Declaration Files Bisa Ngaco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07008"/>
            <a:ext cx="1828800" cy="50292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64707E"/>
                </a:solidFill>
                <a:latin typeface="Calibri"/>
              </a:rPr>
              <a:t>Ekosistem TS bergantung pada @types/* (.d.ts files)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E5EAA"/>
                </a:solidFill>
              </a:rPr>
              <a:t>• </a:t>
            </a:r>
            <a:r>
              <a:rPr sz="2000" b="1">
                <a:solidFill>
                  <a:srgbClr val="1F2937"/>
                </a:solidFill>
                <a:latin typeface="Calibri"/>
              </a:rPr>
              <a:t>Dikelola terpisah</a:t>
            </a:r>
            <a:r>
              <a:rPr sz="2000" b="0">
                <a:solidFill>
                  <a:srgbClr val="1F2937"/>
                </a:solidFill>
                <a:latin typeface="Calibri"/>
              </a:rPr>
              <a:t> dari library aslinya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E5EAA"/>
                </a:solidFill>
              </a:rPr>
              <a:t>• </a:t>
            </a:r>
            <a:r>
              <a:rPr sz="2000" b="0">
                <a:solidFill>
                  <a:srgbClr val="1F2937"/>
                </a:solidFill>
                <a:latin typeface="Calibri"/>
              </a:rPr>
              <a:t>Bisa </a:t>
            </a:r>
            <a:r>
              <a:rPr sz="2000" b="1">
                <a:solidFill>
                  <a:srgbClr val="1F2937"/>
                </a:solidFill>
                <a:latin typeface="Calibri"/>
              </a:rPr>
              <a:t>outdated, incomplete, atau salah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E5EAA"/>
                </a:solidFill>
              </a:rPr>
              <a:t>• </a:t>
            </a:r>
            <a:r>
              <a:rPr sz="2000" b="0">
                <a:solidFill>
                  <a:srgbClr val="1F2937"/>
                </a:solidFill>
                <a:latin typeface="Calibri"/>
              </a:rPr>
              <a:t>TypeScript </a:t>
            </a:r>
            <a:r>
              <a:rPr sz="2000" b="1">
                <a:solidFill>
                  <a:srgbClr val="1F2937"/>
                </a:solidFill>
                <a:latin typeface="Calibri"/>
              </a:rPr>
              <a:t>percaya begitu aja</a:t>
            </a:r>
            <a:r>
              <a:rPr sz="2000" b="0">
                <a:solidFill>
                  <a:srgbClr val="1F2937"/>
                </a:solidFill>
                <a:latin typeface="Calibri"/>
              </a:rPr>
              <a:t> ke definisi yang ada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480560"/>
            <a:ext cx="10515600" cy="1097280"/>
          </a:xfrm>
          <a:prstGeom prst="roundRect">
            <a:avLst/>
          </a:prstGeom>
          <a:solidFill>
            <a:srgbClr val="E3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66344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Kalo .d.ts-nya salah, compiler dengan setia nge-approve type yang salah — dan itu di luar kontrol library aslinya.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4707E"/>
                </a:solidFill>
                <a:latin typeface="Calibri"/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#7 Runtime Behavior Gak Berubah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07008"/>
            <a:ext cx="1828800" cy="50292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64707E"/>
                </a:solidFill>
                <a:latin typeface="Calibri"/>
              </a:rPr>
              <a:t>TypeScript secara prinsip tidak mengubah runtime JavaScript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1F2937"/>
                </a:solidFill>
                <a:latin typeface="Calibri"/>
              </a:rPr>
              <a:t>Semua quirk JS tetap ada: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900" b="1">
                <a:solidFill>
                  <a:srgbClr val="2E5EAA"/>
                </a:solidFill>
              </a:rPr>
              <a:t>• </a:t>
            </a:r>
            <a:r>
              <a:rPr sz="1900" b="0">
                <a:solidFill>
                  <a:srgbClr val="1F2937"/>
                </a:solidFill>
                <a:latin typeface="Calibri"/>
              </a:rPr>
              <a:t>Type coercion — `"" == 0` → `true`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900" b="1">
                <a:solidFill>
                  <a:srgbClr val="2E5EAA"/>
                </a:solidFill>
              </a:rPr>
              <a:t>• </a:t>
            </a:r>
            <a:r>
              <a:rPr sz="1900" b="0">
                <a:solidFill>
                  <a:srgbClr val="1F2937"/>
                </a:solidFill>
                <a:latin typeface="Calibri"/>
              </a:rPr>
              <a:t>‘this’ binding aneh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900" b="1">
                <a:solidFill>
                  <a:srgbClr val="2E5EAA"/>
                </a:solidFill>
              </a:rPr>
              <a:t>• </a:t>
            </a:r>
            <a:r>
              <a:rPr sz="1900" b="0">
                <a:solidFill>
                  <a:srgbClr val="1F2937"/>
                </a:solidFill>
                <a:latin typeface="Calibri"/>
              </a:rPr>
              <a:t>`typeof null === "object"`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900" b="1">
                <a:solidFill>
                  <a:srgbClr val="2E5EAA"/>
                </a:solidFill>
              </a:rPr>
              <a:t>• </a:t>
            </a:r>
            <a:r>
              <a:rPr sz="1900" b="0">
                <a:solidFill>
                  <a:srgbClr val="1F2937"/>
                </a:solidFill>
                <a:latin typeface="Calibri"/>
              </a:rPr>
              <a:t>Prototypal inheritance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937760"/>
            <a:ext cx="10515600" cy="914400"/>
          </a:xfrm>
          <a:prstGeom prst="roundRect">
            <a:avLst/>
          </a:prstGeom>
          <a:solidFill>
            <a:srgbClr val="E3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TS cuma kasih peringatan di editor — runtime tetap jalan apa adanya.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4707E"/>
                </a:solidFill>
                <a:latin typeface="Calibri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#8 “Superset” = Batasan Inheren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07008"/>
            <a:ext cx="1828800" cy="50292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64707E"/>
                </a:solidFill>
                <a:latin typeface="Calibri"/>
              </a:rPr>
              <a:t>Karena harus 100% kompatibel dengan JavaScript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E5EAA"/>
                </a:solidFill>
              </a:rPr>
              <a:t>• </a:t>
            </a:r>
            <a:r>
              <a:rPr sz="2000" b="0">
                <a:solidFill>
                  <a:srgbClr val="1F2937"/>
                </a:solidFill>
                <a:latin typeface="Calibri"/>
              </a:rPr>
              <a:t>Gak bisa bikin </a:t>
            </a:r>
            <a:r>
              <a:rPr sz="2000" b="1">
                <a:solidFill>
                  <a:srgbClr val="1F2937"/>
                </a:solidFill>
                <a:latin typeface="Calibri"/>
              </a:rPr>
              <a:t>enum yang aman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E5EAA"/>
                </a:solidFill>
              </a:rPr>
              <a:t>• </a:t>
            </a:r>
            <a:r>
              <a:rPr sz="2000" b="0">
                <a:solidFill>
                  <a:srgbClr val="1F2937"/>
                </a:solidFill>
                <a:latin typeface="Calibri"/>
              </a:rPr>
              <a:t>Gak bisa </a:t>
            </a:r>
            <a:r>
              <a:rPr sz="2000" b="1">
                <a:solidFill>
                  <a:srgbClr val="1F2937"/>
                </a:solidFill>
                <a:latin typeface="Calibri"/>
              </a:rPr>
              <a:t>nominal typing</a:t>
            </a:r>
            <a:r>
              <a:rPr sz="2000" b="0">
                <a:solidFill>
                  <a:srgbClr val="1F2937"/>
                </a:solidFill>
                <a:latin typeface="Calibri"/>
              </a:rPr>
              <a:t> yang proper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E5EAA"/>
                </a:solidFill>
              </a:rPr>
              <a:t>• </a:t>
            </a:r>
            <a:r>
              <a:rPr sz="2000" b="0">
                <a:solidFill>
                  <a:srgbClr val="1F2937"/>
                </a:solidFill>
                <a:latin typeface="Calibri"/>
              </a:rPr>
              <a:t>Gak bisa </a:t>
            </a:r>
            <a:r>
              <a:rPr sz="2000" b="1">
                <a:solidFill>
                  <a:srgbClr val="1F2937"/>
                </a:solidFill>
                <a:latin typeface="Calibri"/>
              </a:rPr>
              <a:t>fix bug lama</a:t>
            </a:r>
            <a:r>
              <a:rPr sz="2000" b="0">
                <a:solidFill>
                  <a:srgbClr val="1F2937"/>
                </a:solidFill>
                <a:latin typeface="Calibri"/>
              </a:rPr>
              <a:t> JavaScript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E5EAA"/>
                </a:solidFill>
              </a:rPr>
              <a:t>• </a:t>
            </a:r>
            <a:r>
              <a:rPr sz="2000" b="0">
                <a:solidFill>
                  <a:srgbClr val="1F2937"/>
                </a:solidFill>
                <a:latin typeface="Calibri"/>
              </a:rPr>
              <a:t>Gak bisa nambah fitur yang butuh </a:t>
            </a:r>
            <a:r>
              <a:rPr sz="2000" b="1">
                <a:solidFill>
                  <a:srgbClr val="1F2937"/>
                </a:solidFill>
                <a:latin typeface="Calibri"/>
              </a:rPr>
              <a:t>runtime support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572000"/>
            <a:ext cx="10515600" cy="1051560"/>
          </a:xfrm>
          <a:prstGeom prst="roundRect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754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Calibri"/>
              </a:rPr>
              <a:t>TS **terikat** sama JavaScript — gak bisa lebih baik dari JavaScript itu sendiri.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4707E"/>
                </a:solidFill>
                <a:latin typeface="Calibri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617720"/>
            <a:ext cx="12191695" cy="109728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200" b="1">
                <a:solidFill>
                  <a:srgbClr val="FFFFFF"/>
                </a:solidFill>
                <a:latin typeface="Calibri"/>
              </a:rPr>
              <a:t>Tapi… Tetep Worth 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>
                <a:solidFill>
                  <a:srgbClr val="BFD3F0"/>
                </a:solidFill>
                <a:latin typeface="Calibri"/>
              </a:rPr>
              <a:t>Meskipun “akal-akalan”, TypeScript tetap **lompatan besar** buat ekosistem JavaScript.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64707E"/>
                </a:solidFill>
                <a:latin typeface="Calibri"/>
              </a:rPr>
              <a:t>6 counterarguments 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4707E"/>
                </a:solidFill>
                <a:latin typeface="Calibri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✅ #1 Catch Errors Before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07008"/>
            <a:ext cx="1828800" cy="50292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64707E"/>
                </a:solidFill>
                <a:latin typeface="Calibri"/>
              </a:rPr>
              <a:t>Mayoritas bug JS adalah type-related — TS catch di editor/CI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82880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65836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Tanpa TS</a:t>
                      </a:r>
                    </a:p>
                  </a:txBody>
                  <a:tcPr>
                    <a:solidFill>
                      <a:srgbClr val="1E3A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Dengan TS</a:t>
                      </a:r>
                    </a:p>
                  </a:txBody>
                  <a:tcPr>
                    <a:solidFill>
                      <a:srgbClr val="1E3A6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B9322A"/>
                          </a:solidFill>
                          <a:latin typeface="Calibri"/>
                        </a:rPr>
                        <a:t>Typo property → runtime error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E7A46"/>
                          </a:solidFill>
                          <a:latin typeface="Calibri"/>
                        </a:rPr>
                        <a:t>Caught saat ngetik</a:t>
                      </a:r>
                    </a:p>
                  </a:txBody>
                  <a:tcPr>
                    <a:solidFill>
                      <a:srgbClr val="E8F6E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B9322A"/>
                          </a:solidFill>
                          <a:latin typeface="Calibri"/>
                        </a:rPr>
                        <a:t>Argumen salah jumlah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E7A46"/>
                          </a:solidFill>
                          <a:latin typeface="Calibri"/>
                        </a:rPr>
                        <a:t>Caught compile time</a:t>
                      </a:r>
                    </a:p>
                  </a:txBody>
                  <a:tcPr>
                    <a:solidFill>
                      <a:srgbClr val="E8F6E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B9322A"/>
                          </a:solidFill>
                          <a:latin typeface="Calibri"/>
                        </a:rPr>
                        <a:t>Null/undefined access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E7A46"/>
                          </a:solidFill>
                          <a:latin typeface="Calibri"/>
                        </a:rPr>
                        <a:t>Caught (strict null)</a:t>
                      </a:r>
                    </a:p>
                  </a:txBody>
                  <a:tcPr>
                    <a:solidFill>
                      <a:srgbClr val="E8F6E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B9322A"/>
                          </a:solidFill>
                          <a:latin typeface="Calibri"/>
                        </a:rPr>
                        <a:t>Function kurang implementasi</a:t>
                      </a:r>
                    </a:p>
                  </a:txBody>
                  <a:tcPr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E7A46"/>
                          </a:solidFill>
                          <a:latin typeface="Calibri"/>
                        </a:rPr>
                        <a:t>Caught compile</a:t>
                      </a:r>
                    </a:p>
                  </a:txBody>
                  <a:tcPr>
                    <a:solidFill>
                      <a:srgbClr val="E8F6E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486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64707E"/>
                </a:solidFill>
                <a:latin typeface="Calibri"/>
              </a:rPr>
              <a:t>Error paling mahal (runtime production) pindah ke paling murah (saat ngetik).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4707E"/>
                </a:solidFill>
                <a:latin typeface="Calibri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✅ #2 Developer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07008"/>
            <a:ext cx="1828800" cy="50292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64707E"/>
                </a:solidFill>
                <a:latin typeface="Calibri"/>
              </a:rPr>
              <a:t>Bukan cuma safety — produktivitas naik drastis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E5EAA"/>
                </a:solidFill>
              </a:rPr>
              <a:t>• </a:t>
            </a:r>
            <a:r>
              <a:rPr sz="2000" b="1">
                <a:solidFill>
                  <a:srgbClr val="1F2937"/>
                </a:solidFill>
                <a:latin typeface="Calibri"/>
              </a:rPr>
              <a:t>Autocomplete</a:t>
            </a:r>
            <a:r>
              <a:rPr sz="2000" b="0">
                <a:solidFill>
                  <a:srgbClr val="1F2937"/>
                </a:solidFill>
                <a:latin typeface="Calibri"/>
              </a:rPr>
              <a:t> akurat — gak perlu cek dokumentasi terus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E5EAA"/>
                </a:solidFill>
              </a:rPr>
              <a:t>• </a:t>
            </a:r>
            <a:r>
              <a:rPr sz="2000" b="1">
                <a:solidFill>
                  <a:srgbClr val="1F2937"/>
                </a:solidFill>
                <a:latin typeface="Calibri"/>
              </a:rPr>
              <a:t>Refactoring aman</a:t>
            </a:r>
            <a:r>
              <a:rPr sz="2000" b="0">
                <a:solidFill>
                  <a:srgbClr val="1F2937"/>
                </a:solidFill>
                <a:latin typeface="Calibri"/>
              </a:rPr>
              <a:t> — rename/ekstrak tanpa takut break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E5EAA"/>
                </a:solidFill>
              </a:rPr>
              <a:t>• </a:t>
            </a:r>
            <a:r>
              <a:rPr sz="2000" b="1">
                <a:solidFill>
                  <a:srgbClr val="1F2937"/>
                </a:solidFill>
                <a:latin typeface="Calibri"/>
              </a:rPr>
              <a:t>Go-to-definition</a:t>
            </a:r>
            <a:r>
              <a:rPr sz="2000" b="0">
                <a:solidFill>
                  <a:srgbClr val="1F2937"/>
                </a:solidFill>
                <a:latin typeface="Calibri"/>
              </a:rPr>
              <a:t> — navigasi kode cepat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E5EAA"/>
                </a:solidFill>
              </a:rPr>
              <a:t>• </a:t>
            </a:r>
            <a:r>
              <a:rPr sz="2000" b="1">
                <a:solidFill>
                  <a:srgbClr val="1F2937"/>
                </a:solidFill>
                <a:latin typeface="Calibri"/>
              </a:rPr>
              <a:t>Self-documenting</a:t>
            </a:r>
            <a:r>
              <a:rPr sz="2000" b="0">
                <a:solidFill>
                  <a:srgbClr val="1F2937"/>
                </a:solidFill>
                <a:latin typeface="Calibri"/>
              </a:rPr>
              <a:t> — types = dokumentasi inline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029200"/>
            <a:ext cx="10515600" cy="914400"/>
          </a:xfrm>
          <a:prstGeom prst="roundRect">
            <a:avLst/>
          </a:prstGeom>
          <a:solidFill>
            <a:srgbClr val="E3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212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Gak mungkin dicapai di JS tanpa TS (atau JSDoc yang verbose).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4707E"/>
                </a:solidFill>
                <a:latin typeface="Calibri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✅ #3 Strict Mode = Mitigasi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07008"/>
            <a:ext cx="1828800" cy="50292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64707E"/>
                </a:solidFill>
                <a:latin typeface="Calibri"/>
              </a:rPr>
              <a:t>tsconfig.json → “strict”: true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10515600" cy="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47088"/>
            <a:ext cx="10149840" cy="-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7DC4FF"/>
                </a:solidFill>
                <a:latin typeface="Consolas"/>
              </a:rPr>
              <a:t>// tsconfig.json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D1D5DB"/>
                </a:solidFill>
                <a:latin typeface="Consolas"/>
              </a:rPr>
              <a:t>"strict": true   // Tutup pintu darurat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800" b="1">
                <a:solidFill>
                  <a:srgbClr val="2E5EAA"/>
                </a:solidFill>
              </a:rPr>
              <a:t>• </a:t>
            </a:r>
            <a:r>
              <a:rPr sz="1800" b="0">
                <a:solidFill>
                  <a:srgbClr val="1F2937"/>
                </a:solidFill>
                <a:latin typeface="Calibri"/>
              </a:rPr>
              <a:t>`noImplicitAny` → gak boleh ‘any’ implisit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800" b="1">
                <a:solidFill>
                  <a:srgbClr val="2E5EAA"/>
                </a:solidFill>
              </a:rPr>
              <a:t>• </a:t>
            </a:r>
            <a:r>
              <a:rPr sz="1800" b="0">
                <a:solidFill>
                  <a:srgbClr val="1F2937"/>
                </a:solidFill>
                <a:latin typeface="Calibri"/>
              </a:rPr>
              <a:t>`strictNullChecks` → null/undefined harus explicit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800" b="1">
                <a:solidFill>
                  <a:srgbClr val="2E5EAA"/>
                </a:solidFill>
              </a:rPr>
              <a:t>• </a:t>
            </a:r>
            <a:r>
              <a:rPr sz="1800" b="0">
                <a:solidFill>
                  <a:srgbClr val="1F2937"/>
                </a:solidFill>
                <a:latin typeface="Calibri"/>
              </a:rPr>
              <a:t>`strictFunctionTypes` → type check lebih ketat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800" b="1">
                <a:solidFill>
                  <a:srgbClr val="2E5EAA"/>
                </a:solidFill>
              </a:rPr>
              <a:t>• </a:t>
            </a:r>
            <a:r>
              <a:rPr sz="1800" b="0">
                <a:solidFill>
                  <a:srgbClr val="1F2937"/>
                </a:solidFill>
                <a:latin typeface="Calibri"/>
              </a:rPr>
              <a:t>`noUncheckedIndexedAccess` → array/object access bisa undefined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212080"/>
            <a:ext cx="10515600" cy="822960"/>
          </a:xfrm>
          <a:prstGeom prst="roundRect">
            <a:avLst/>
          </a:prstGeom>
          <a:solidFill>
            <a:srgbClr val="E3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3766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Semakin ketat config → semakin kecil “pintu darurat” yang terbuka.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4707E"/>
                </a:solidFill>
                <a:latin typeface="Calibri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✅ #4 Structural Typing = Kekuatan, Bukan Bug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07008"/>
            <a:ext cx="1828800" cy="50292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64707E"/>
                </a:solidFill>
                <a:latin typeface="Calibri"/>
              </a:rPr>
              <a:t>TS pakai structural typing (duck typing)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>
                <a:solidFill>
                  <a:srgbClr val="1F2937"/>
                </a:solidFill>
                <a:latin typeface="Calibri"/>
              </a:rPr>
              <a:t>Dua object dengan shape sama = compatible.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900" b="1">
                <a:solidFill>
                  <a:srgbClr val="2E5EAA"/>
                </a:solidFill>
              </a:rPr>
              <a:t>• </a:t>
            </a:r>
            <a:r>
              <a:rPr sz="1900" b="1">
                <a:solidFill>
                  <a:srgbClr val="1F2937"/>
                </a:solidFill>
                <a:latin typeface="Calibri"/>
              </a:rPr>
              <a:t>Bukan kelemahan, tapi desain sadar</a:t>
            </a:r>
            <a:r>
              <a:rPr sz="1900" b="0">
                <a:solidFill>
                  <a:srgbClr val="1F2937"/>
                </a:solidFill>
                <a:latin typeface="Calibri"/>
              </a:rPr>
              <a:t> — cocok dengan sifat JavaScript yang memang duck-typed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900" b="1">
                <a:solidFill>
                  <a:srgbClr val="2E5EAA"/>
                </a:solidFill>
              </a:rPr>
              <a:t>• </a:t>
            </a:r>
            <a:r>
              <a:rPr sz="1900" b="0">
                <a:solidFill>
                  <a:srgbClr val="1F2937"/>
                </a:solidFill>
                <a:latin typeface="Calibri"/>
              </a:rPr>
              <a:t>Lebih fleksibel dari nominal typing tanpa kehilangan safety berarti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900" b="1">
                <a:solidFill>
                  <a:srgbClr val="2E5EAA"/>
                </a:solidFill>
              </a:rPr>
              <a:t>• </a:t>
            </a:r>
            <a:r>
              <a:rPr sz="1900" b="0">
                <a:solidFill>
                  <a:srgbClr val="1F2937"/>
                </a:solidFill>
                <a:latin typeface="Calibri"/>
              </a:rPr>
              <a:t>Kompatibel dengan JS ecosystem yang shape-based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120640"/>
            <a:ext cx="10515600" cy="914400"/>
          </a:xfrm>
          <a:prstGeom prst="roundRect">
            <a:avLst/>
          </a:prstGeom>
          <a:solidFill>
            <a:srgbClr val="E3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303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Duck typing + static check = yang terbaik dari dua dunia.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4707E"/>
                </a:solidFill>
                <a:latin typeface="Calibri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✅ #5 Runtime Validation Bisa Dilapis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07008"/>
            <a:ext cx="1828800" cy="50292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64707E"/>
                </a:solidFill>
                <a:latin typeface="Calibri"/>
              </a:rPr>
              <a:t>Best practice modern — TS bukan pengganti, tapi partner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10515600" cy="960120"/>
          </a:xfrm>
          <a:prstGeom prst="round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029968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TypeScript (compile time)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2316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E5E7EB"/>
                </a:solidFill>
                <a:latin typeface="Calibri"/>
              </a:rPr>
              <a:t>Catch 90% bug di development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035808"/>
            <a:ext cx="10515600" cy="960120"/>
          </a:xfrm>
          <a:prstGeom prst="roundRect">
            <a:avLst/>
          </a:prstGeom>
          <a:solidFill>
            <a:srgbClr val="8E6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145536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Zod / Yup (runtime boundary)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538728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E5E7EB"/>
                </a:solidFill>
                <a:latin typeface="Calibri"/>
              </a:rPr>
              <a:t>Validasi external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51376"/>
            <a:ext cx="10515600" cy="960120"/>
          </a:xfrm>
          <a:prstGeom prst="round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261104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JavaScript (runtime)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654296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E5E7EB"/>
                </a:solidFill>
                <a:latin typeface="Calibri"/>
              </a:rPr>
              <a:t>Eksekusi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E3A6E"/>
                </a:solidFill>
                <a:latin typeface="Calibri"/>
              </a:rPr>
              <a:t>Kombinasi ini powerful — **TS bukan pengganti runtime validation, tapi partner**.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4707E"/>
                </a:solidFill>
                <a:latin typeface="Calibri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✅ #6 Adopsi Luas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07008"/>
            <a:ext cx="1828800" cy="50292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64707E"/>
                </a:solidFill>
                <a:latin typeface="Calibri"/>
              </a:rPr>
              <a:t>TypeScript mendominasi ekosistem JS modern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E5EAA"/>
                </a:solidFill>
              </a:rPr>
              <a:t>• </a:t>
            </a:r>
            <a:r>
              <a:rPr sz="2000" b="1">
                <a:solidFill>
                  <a:srgbClr val="1F2937"/>
                </a:solidFill>
                <a:latin typeface="Calibri"/>
              </a:rPr>
              <a:t>Next.js, Deno, Bun, Angular</a:t>
            </a:r>
            <a:r>
              <a:rPr sz="2000" b="0">
                <a:solidFill>
                  <a:srgbClr val="1F2937"/>
                </a:solidFill>
                <a:latin typeface="Calibri"/>
              </a:rPr>
              <a:t> — TS-first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E5EAA"/>
                </a:solidFill>
              </a:rPr>
              <a:t>• </a:t>
            </a:r>
            <a:r>
              <a:rPr sz="2000" b="1">
                <a:solidFill>
                  <a:srgbClr val="1F2937"/>
                </a:solidFill>
                <a:latin typeface="Calibri"/>
              </a:rPr>
              <a:t>Prisma, tRPC, TanStack Query</a:t>
            </a:r>
            <a:r>
              <a:rPr sz="2000" b="0">
                <a:solidFill>
                  <a:srgbClr val="1F2937"/>
                </a:solidFill>
                <a:latin typeface="Calibri"/>
              </a:rPr>
              <a:t> — dibangun di atas TS types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2000" b="1">
                <a:solidFill>
                  <a:srgbClr val="2E5EAA"/>
                </a:solidFill>
              </a:rPr>
              <a:t>• </a:t>
            </a:r>
            <a:r>
              <a:rPr sz="2000" b="1">
                <a:solidFill>
                  <a:srgbClr val="1F2937"/>
                </a:solidFill>
                <a:latin typeface="Calibri"/>
              </a:rPr>
              <a:t>StackOverflow Developer Survey</a:t>
            </a:r>
            <a:r>
              <a:rPr sz="2000" b="0">
                <a:solidFill>
                  <a:srgbClr val="1F2937"/>
                </a:solidFill>
                <a:latin typeface="Calibri"/>
              </a:rPr>
              <a:t> — TS di top 5 most loved/admired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846320"/>
            <a:ext cx="10515600" cy="1051560"/>
          </a:xfrm>
          <a:prstGeom prst="roundRect">
            <a:avLst/>
          </a:prstGeom>
          <a:solidFill>
            <a:srgbClr val="E8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E7A46"/>
                </a:solidFill>
                <a:latin typeface="Calibri"/>
              </a:rPr>
              <a:t>**Bukti bahwa trade-off yang diambil TypeScript berhasil.**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4707E"/>
                </a:solidFill>
                <a:latin typeface="Calibri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Apakah Benar-benar “Akal-akalan”?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07008"/>
            <a:ext cx="1828800" cy="50292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64707E"/>
                </a:solidFill>
                <a:latin typeface="Calibri"/>
              </a:rPr>
              <a:t>Dua sisi mata uang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5120640" cy="4206240"/>
          </a:xfrm>
          <a:prstGeom prst="roundRect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B9322A"/>
                </a:solidFill>
                <a:latin typeface="Calibri"/>
              </a:rPr>
              <a:t>Iya, KARENA: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4572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600" b="1">
                <a:solidFill>
                  <a:srgbClr val="B9322A"/>
                </a:solidFill>
              </a:rPr>
              <a:t>• </a:t>
            </a:r>
            <a:r>
              <a:rPr sz="1600" b="0">
                <a:solidFill>
                  <a:srgbClr val="1F2937"/>
                </a:solidFill>
                <a:latin typeface="Calibri"/>
              </a:rPr>
              <a:t>Types hilang di runtime — cuma “ilusi” type safety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600" b="1">
                <a:solidFill>
                  <a:srgbClr val="B9322A"/>
                </a:solidFill>
              </a:rPr>
              <a:t>• </a:t>
            </a:r>
            <a:r>
              <a:rPr sz="1600" b="0">
                <a:solidFill>
                  <a:srgbClr val="1F2937"/>
                </a:solidFill>
                <a:latin typeface="Calibri"/>
              </a:rPr>
              <a:t>‘any’ dan ‘as’ bisa bypass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600" b="1">
                <a:solidFill>
                  <a:srgbClr val="B9322A"/>
                </a:solidFill>
              </a:rPr>
              <a:t>• </a:t>
            </a:r>
            <a:r>
              <a:rPr sz="1600" b="0">
                <a:solidFill>
                  <a:srgbClr val="1F2937"/>
                </a:solidFill>
                <a:latin typeface="Calibri"/>
              </a:rPr>
              <a:t>Tetap perlu runtime validation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600" b="1">
                <a:solidFill>
                  <a:srgbClr val="B9322A"/>
                </a:solidFill>
              </a:rPr>
              <a:t>• </a:t>
            </a:r>
            <a:r>
              <a:rPr sz="1600" b="0">
                <a:solidFill>
                  <a:srgbClr val="1F2937"/>
                </a:solidFill>
                <a:latin typeface="Calibri"/>
              </a:rPr>
              <a:t>Gak bisa fix fundamental JS quirk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37360"/>
            <a:ext cx="5120640" cy="4206240"/>
          </a:xfrm>
          <a:prstGeom prst="roundRect">
            <a:avLst/>
          </a:prstGeom>
          <a:solidFill>
            <a:srgbClr val="E8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1E7A46"/>
                </a:solidFill>
                <a:latin typeface="Calibri"/>
              </a:rPr>
              <a:t>Tidak, KARENA: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468880"/>
            <a:ext cx="4572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600" b="1">
                <a:solidFill>
                  <a:srgbClr val="1E7A46"/>
                </a:solidFill>
              </a:rPr>
              <a:t>• </a:t>
            </a:r>
            <a:r>
              <a:rPr sz="1600" b="0">
                <a:solidFill>
                  <a:srgbClr val="1F2937"/>
                </a:solidFill>
                <a:latin typeface="Calibri"/>
              </a:rPr>
              <a:t>Ini </a:t>
            </a:r>
            <a:r>
              <a:rPr sz="1600" b="1">
                <a:solidFill>
                  <a:srgbClr val="1F2937"/>
                </a:solidFill>
                <a:latin typeface="Calibri"/>
              </a:rPr>
              <a:t>design choice</a:t>
            </a:r>
            <a:r>
              <a:rPr sz="1600" b="0">
                <a:solidFill>
                  <a:srgbClr val="1F2937"/>
                </a:solidFill>
                <a:latin typeface="Calibri"/>
              </a:rPr>
              <a:t>, bukan kelemahan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600" b="1">
                <a:solidFill>
                  <a:srgbClr val="1E7A46"/>
                </a:solidFill>
              </a:rPr>
              <a:t>• </a:t>
            </a:r>
            <a:r>
              <a:rPr sz="1600" b="0">
                <a:solidFill>
                  <a:srgbClr val="1F2937"/>
                </a:solidFill>
                <a:latin typeface="Calibri"/>
              </a:rPr>
              <a:t>Semua compiled language juga “kehilangan” types di binary (C, C++, Rust, Go)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600" b="1">
                <a:solidFill>
                  <a:srgbClr val="1E7A46"/>
                </a:solidFill>
              </a:rPr>
              <a:t>• </a:t>
            </a:r>
            <a:r>
              <a:rPr sz="1600" b="0">
                <a:solidFill>
                  <a:srgbClr val="1F2937"/>
                </a:solidFill>
                <a:latin typeface="Calibri"/>
              </a:rPr>
              <a:t>Gak ada yang nyebut mereka “akal-akalan”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600" b="1">
                <a:solidFill>
                  <a:srgbClr val="1E7A46"/>
                </a:solidFill>
              </a:rPr>
              <a:t>• </a:t>
            </a:r>
            <a:r>
              <a:rPr sz="1600" b="0">
                <a:solidFill>
                  <a:srgbClr val="1F2937"/>
                </a:solidFill>
                <a:latin typeface="Calibri"/>
              </a:rPr>
              <a:t>TS dari awal emang </a:t>
            </a:r>
            <a:r>
              <a:rPr sz="1600" b="1">
                <a:solidFill>
                  <a:srgbClr val="1F2937"/>
                </a:solidFill>
                <a:latin typeface="Calibri"/>
              </a:rPr>
              <a:t>gradual typing</a:t>
            </a:r>
            <a:r>
              <a:rPr sz="1600" b="0">
                <a:solidFill>
                  <a:srgbClr val="1F2937"/>
                </a:solidFill>
                <a:latin typeface="Calibri"/>
              </a:rPr>
              <a:t>, bukan fully sound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4707E"/>
                </a:solidFill>
                <a:latin typeface="Calibri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Trade-off yang Terbukti Berhasil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07008"/>
            <a:ext cx="1828800" cy="50292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64707E"/>
                </a:solidFill>
                <a:latin typeface="Calibri"/>
              </a:rPr>
              <a:t>Posisi pragmatis di tengah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3383280" cy="2377440"/>
          </a:xfrm>
          <a:prstGeom prst="round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Purist Static
(Rust/Haskell)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E5E7EB"/>
                </a:solidFill>
                <a:latin typeface="Calibri"/>
              </a:rPr>
              <a:t>100% safe
 tapi rigid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383280" cy="2377440"/>
          </a:xfrm>
          <a:prstGeom prst="round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2402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TypeScript
(gradual typing)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2918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E5E7EB"/>
                </a:solidFill>
                <a:latin typeface="Calibri"/>
              </a:rPr>
              <a:t>90% safe
 cukup untuk real-world apps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2011680"/>
            <a:ext cx="3383280" cy="2377440"/>
          </a:xfrm>
          <a:prstGeom prst="roundRect">
            <a:avLst/>
          </a:prstGeom>
          <a:solidFill>
            <a:srgbClr val="8E6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2402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Dynamic JS
(Zero safety)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2918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E5E7EB"/>
                </a:solidFill>
                <a:latin typeface="Calibri"/>
              </a:rPr>
              <a:t>0% safe
 fleksibel total tapi rawan bug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548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TS ambil posisi **pragmatis** di tengah — dan terbukti jadi sweet spot.
100% aman tapi kaku ←→ 0% aman tapi bebas: TS pilih jalan tengah yang bisa dipakai real-world.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4707E"/>
                </a:solidFill>
                <a:latin typeface="Calibri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Kesimpulan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07008"/>
            <a:ext cx="1828800" cy="50292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64707E"/>
                </a:solidFill>
                <a:latin typeface="Calibri"/>
              </a:rPr>
              <a:t>Bukan silver bullet — tapi lompatan revolusioner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000" b="1">
                <a:solidFill>
                  <a:srgbClr val="2E5EAA"/>
                </a:solidFill>
              </a:rPr>
              <a:t>• </a:t>
            </a:r>
            <a:r>
              <a:rPr sz="2000" b="0">
                <a:solidFill>
                  <a:srgbClr val="1F2937"/>
                </a:solidFill>
                <a:latin typeface="Calibri"/>
              </a:rPr>
              <a:t>TypeScript </a:t>
            </a:r>
            <a:r>
              <a:rPr sz="2000" b="1">
                <a:solidFill>
                  <a:srgbClr val="1F2937"/>
                </a:solidFill>
                <a:latin typeface="Calibri"/>
              </a:rPr>
              <a:t>bukan silver bullet</a:t>
            </a:r>
            <a:r>
              <a:rPr sz="2000" b="0">
                <a:solidFill>
                  <a:srgbClr val="1F2937"/>
                </a:solidFill>
                <a:latin typeface="Calibri"/>
              </a:rPr>
              <a:t>.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000" b="1">
                <a:solidFill>
                  <a:srgbClr val="2E5EAA"/>
                </a:solidFill>
              </a:rPr>
              <a:t>• </a:t>
            </a:r>
            <a:r>
              <a:rPr sz="2000" b="0">
                <a:solidFill>
                  <a:srgbClr val="1F2937"/>
                </a:solidFill>
                <a:latin typeface="Calibri"/>
              </a:rPr>
              <a:t>Dia </a:t>
            </a:r>
            <a:r>
              <a:rPr sz="2000" b="1">
                <a:solidFill>
                  <a:srgbClr val="1F2937"/>
                </a:solidFill>
                <a:latin typeface="Calibri"/>
              </a:rPr>
              <a:t>compile-time safety layer</a:t>
            </a:r>
            <a:r>
              <a:rPr sz="2000" b="0">
                <a:solidFill>
                  <a:srgbClr val="1F2937"/>
                </a:solidFill>
                <a:latin typeface="Calibri"/>
              </a:rPr>
              <a:t>, bukan runtime safety layer.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000" b="1">
                <a:solidFill>
                  <a:srgbClr val="2E5EAA"/>
                </a:solidFill>
              </a:rPr>
              <a:t>• </a:t>
            </a:r>
            <a:r>
              <a:rPr sz="2000" b="0">
                <a:solidFill>
                  <a:srgbClr val="1F2937"/>
                </a:solidFill>
                <a:latin typeface="Calibri"/>
              </a:rPr>
              <a:t>Tapi udah cukup untuk </a:t>
            </a:r>
            <a:r>
              <a:rPr sz="2000" b="1">
                <a:solidFill>
                  <a:srgbClr val="1F2937"/>
                </a:solidFill>
                <a:latin typeface="Calibri"/>
              </a:rPr>
              <a:t>eliminate 90%+ kategori bug</a:t>
            </a:r>
            <a:r>
              <a:rPr sz="2000" b="0">
                <a:solidFill>
                  <a:srgbClr val="1F2937"/>
                </a:solidFill>
                <a:latin typeface="Calibri"/>
              </a:rPr>
              <a:t> di JavaScript.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297680"/>
            <a:ext cx="10515600" cy="1371600"/>
          </a:xfrm>
          <a:prstGeom prst="roundRect">
            <a:avLst/>
          </a:prstGeom>
          <a:solidFill>
            <a:srgbClr val="E3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4805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Kritik “akal-akalan” biasanya dari perspektif **purist static typing** — tapi dari perspektif JS developer yang sebelumnya **zero type safety**, TypeScript adalah **lompatan revolusioner**.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806440"/>
            <a:ext cx="10515600" cy="685800"/>
          </a:xfrm>
          <a:prstGeom prst="round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Real-world engineering = pragmatic trade-offs, bukan purity.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4707E"/>
                </a:solidFill>
                <a:latin typeface="Calibri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617720"/>
            <a:ext cx="12191695" cy="109728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200" b="1">
                <a:solidFill>
                  <a:srgbClr val="FFFFFF"/>
                </a:solidFill>
                <a:latin typeface="Calibri"/>
              </a:rPr>
              <a:t>Q&amp;A / Diskusi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0">
                <a:solidFill>
                  <a:srgbClr val="BFD3F0"/>
                </a:solidFill>
                <a:latin typeface="Calibri"/>
              </a:rPr>
              <a:t>🧪 Ada pertanyaan?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64707E"/>
                </a:solidFill>
                <a:latin typeface="Calibri"/>
              </a:rPr>
              <a:t>Topik lanjutan: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2E5EAA"/>
                </a:solidFill>
              </a:rPr>
              <a:t>• </a:t>
            </a:r>
            <a:r>
              <a:rPr sz="1700" b="0">
                <a:solidFill>
                  <a:srgbClr val="FFFFFF"/>
                </a:solidFill>
                <a:latin typeface="Calibri"/>
              </a:rPr>
              <a:t>TypeScript vs Rust/Go (pure static)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2E5EAA"/>
                </a:solidFill>
              </a:rPr>
              <a:t>• </a:t>
            </a:r>
            <a:r>
              <a:rPr sz="1700" b="0">
                <a:solidFill>
                  <a:srgbClr val="FFFFFF"/>
                </a:solidFill>
                <a:latin typeface="Calibri"/>
              </a:rPr>
              <a:t>Best practice mitigasi (Zod + strict TS)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2E5EAA"/>
                </a:solidFill>
              </a:rPr>
              <a:t>• </a:t>
            </a:r>
            <a:r>
              <a:rPr sz="1700" b="0">
                <a:solidFill>
                  <a:srgbClr val="FFFFFF"/>
                </a:solidFill>
                <a:latin typeface="Calibri"/>
              </a:rPr>
              <a:t>Kapan gak perlu TypeScript?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4707E"/>
                </a:solidFill>
                <a:latin typeface="Calibri"/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TypeScript &amp; Akal-akalan Static Typing</dc:title>
  <dc:subject/>
  <dc:creator>Velma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